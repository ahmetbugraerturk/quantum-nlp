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410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Natural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Classification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364992"/>
            <a:ext cx="82296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Buğra Ertürk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PHYS 450 Quantum Computing  ·  Spring 2026  ·  Koç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Hypothesis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NLP (LSTMs, Transformers) learns compositionality from data — it is never structurally enforced.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vocabulary N and rule count M grow, any classical model requires latent dimension d ≥ 2M log N to avoid catastrophic interference (Srikumar, 2025 — Theorem 1).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hard mathematical lower bound. With scarce data, the model learns spurious correlations instead.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1012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 algn="l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QNLP models using the DisCoCat framework will exhibit superior compositional generalization vs classical LSTMs, especially in low-data regimes, due to the native tensor product structure of Hilbert space.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261872"/>
            <a:ext cx="3200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1389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1755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37960" y="17556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strings (text or musical sequences)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2103120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37960" y="2176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P(y=1|S) ∈ [0,1] — binary classification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0" y="2523744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7784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37960" y="259689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Synthetic: Adj+Noun+Verb grammar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2944368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77840" y="3017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37960" y="30175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SST-2: Stanford Sentiment Treebank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3364992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77840" y="34381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3: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37960" y="343814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Bach: Major / Minor key chorales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3785616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7840" y="3858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37960" y="38587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vs QNLP (DisCoCat / IQP)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4206240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7840" y="4279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37960" y="42793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Accuracy, Overfit Gap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CLASSICAL ALGORITHM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Baseline: LSTM Network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Equations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65960" y="1645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fₜ = σ(Wf · [hₜ₋₁, xₜ] + bf)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4937760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65960" y="2084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iₜ = σ(Wi · [hₜ₋₁, xₜ] + bi)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5237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65960" y="25237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C̃ₜ = tanh(WC · [hₜ₋₁, xₜ] + bC)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16936"/>
            <a:ext cx="4937760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962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2962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Cₜ = fₜ ⊙ Cₜ₋₁ + iₜ ⊙ C̃ₜ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55848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401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65960" y="3401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oₜ = σ(Wo · [hₜ₋₁, xₜ] + bo)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4937760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5960" y="3840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hₜ = oₜ ⊙ tanh(Cₜ)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33672"/>
            <a:ext cx="49377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279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65960" y="4279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P(y=1|S) = σ(</a:t>
            </a:r>
            <a:r>
              <a:rPr lang="en-US" sz="1000" b="1" dirty="0" err="1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W·h</a:t>
            </a:r>
            <a:r>
              <a:rPr lang="en-US" sz="1000" b="1" baseline="-25000" dirty="0" err="1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b)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1261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1664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dim: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78040" y="1664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0" y="1984248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7804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2423160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78040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on embeddings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0" y="2862072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69280" y="29809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78040" y="2980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lr=0.01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0" y="3300984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69280" y="3419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178040" y="3419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weight decay 10⁻⁴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0" y="3739896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66928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7804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669280" y="4178808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66928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7804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0" y="4617720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69280" y="4736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178040" y="4736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epoch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669280" y="5056632"/>
            <a:ext cx="301752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48640" y="476402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O(|V|·dₑ + dₕ²) — grows polynomially as vocabulary and grammar expand. Catastrophic interference is mathematically unavoidable.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QUANTUM ALGORITHM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Algorithm: DisCoCat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463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46304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21408" y="1261872"/>
            <a:ext cx="1463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21408" y="1280160"/>
            <a:ext cx="146304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cups_reader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21408" y="17007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pregroup grammar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84448" y="14630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85616" y="1261872"/>
            <a:ext cx="1463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85616" y="1280160"/>
            <a:ext cx="146304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IQP Ansatz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(lambeq)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785616" y="17007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Rz · H + CNOT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248656" y="14630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49824" y="1261872"/>
            <a:ext cx="1463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9824" y="1280160"/>
            <a:ext cx="146304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49824" y="17007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prob=True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912864" y="14630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14032" y="1261872"/>
            <a:ext cx="146304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14032" y="1280160"/>
            <a:ext cx="146304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P(y=1|S)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14032" y="17007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loss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1993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Mathematical Relationships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340864"/>
            <a:ext cx="82296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2404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Pregroup contraction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23160" y="24048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· (nʳ·s·nˡ) · n  ≤  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0" y="24323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type validity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8229600" cy="438912"/>
          </a:xfrm>
          <a:prstGeom prst="rect">
            <a:avLst/>
          </a:prstGeom>
          <a:solidFill>
            <a:srgbClr val="F7F8FA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2898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23160" y="28986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: Preg → FHilb  (nouns → qubits, cups → Bell measurements)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328416"/>
            <a:ext cx="82296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3924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state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33924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|ψ(S)⟩ = U(θq)|0⟩^⊗n   where U(θq) encodes the parse tree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822192"/>
            <a:ext cx="8229600" cy="438912"/>
          </a:xfrm>
          <a:prstGeom prst="rect">
            <a:avLst/>
          </a:prstGeom>
          <a:solidFill>
            <a:srgbClr val="F7F8FA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3886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23160" y="3886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P(y=1|S) = |⟨1|ψS(θq)⟩|²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498080" y="3913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sentence wire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57200" y="4315968"/>
            <a:ext cx="82296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864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23160" y="43799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|ψwᵢ(θwᵢ)⟩ = H · Rz(θwᵢ) · H |0⟩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98080" y="4407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IQP ansatz per word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476402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IQP ansatz · 1 qubit/type · </a:t>
            </a:r>
            <a:r>
              <a:rPr lang="en-US" sz="850" dirty="0" err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n_layers</a:t>
            </a: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={1, 2} · Adam lr=0.1 · L2=10⁻⁴ · Qubits = 2k+1 per k-token sentence · 7–27 trainable params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QUANTUM ALGORITHM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Structure Across All Three Datasets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dataset produces a structurally different circuit. Qubit count = 2k+1 for k tokens.  Odd qubits = cup wires (measured immediately).  Even qubits = word wires (trainable Rz).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— "good student works"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847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(label = 1)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84832"/>
            <a:ext cx="2743200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670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diagram</a:t>
            </a:r>
            <a:endParaRPr lang="en-US" sz="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834640"/>
            <a:ext cx="2743200" cy="1481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4334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qubits (2×3+1)  ·  6 trainable Rz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2918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SST-2 — "entertaining movie"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291840" y="1847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(label = 1)</a:t>
            </a:r>
            <a:endParaRPr lang="en-US" sz="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084832"/>
            <a:ext cx="2743200" cy="5669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2670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diagram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2834640"/>
            <a:ext cx="2743200" cy="1481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91840" y="4334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qubits (2×2+1)  ·  5 trainable Rz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62636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 — "E5_quarter × 4"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6263640" y="1847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(Minor, label = 0)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2084832"/>
            <a:ext cx="2743200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63640" y="2670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diagram</a:t>
            </a:r>
            <a:endParaRPr lang="en-US" sz="8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2834640"/>
            <a:ext cx="2743200" cy="148132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263640" y="4334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qubits (2×4+1)  ·  7 trainable Rz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DATASETS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Experimental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834640" cy="3657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Grammar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71907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+ Noun + Verb grammar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139696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22311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223113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unique sentences total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651760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" y="2743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27432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adj → 1, Negative adj → 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163824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32552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range: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32552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 only (no train/test overlap)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675888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" y="37673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376732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+ variance test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261872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91840" y="1261872"/>
            <a:ext cx="2834640" cy="3657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0" y="1298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SST-2 (Stanford Sentiment Treebank)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34840" y="171907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review parse trees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2139696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01568" y="22311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34840" y="223113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 tokens (density matrix limit)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2651760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01568" y="2743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34840" y="27432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Sub-phrases dominate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3163824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01568" y="32552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34840" y="32552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sentiment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83280" y="3675888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01568" y="37673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376732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unstructured text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63640" y="1261872"/>
            <a:ext cx="2834640" cy="3657600"/>
          </a:xfrm>
          <a:prstGeom prst="rect">
            <a:avLst/>
          </a:prstGeom>
          <a:solidFill>
            <a:srgbClr val="ECFDF5"/>
          </a:solidFill>
          <a:ln w="1905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63640" y="1261872"/>
            <a:ext cx="2834640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55080" y="1298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 Chorales  ★  (Primary Evidence)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73368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06640" y="171907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J.S. Bach via music21 library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55080" y="2139696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73368" y="22311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06640" y="223113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Pitch+duration → NLP string tokens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55080" y="2651760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73368" y="2743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06640" y="27432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key → 1, Minor key → 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55080" y="3163824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73368" y="32552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Transposition: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06640" y="32552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to C Major / A Minor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55080" y="3675888"/>
            <a:ext cx="26517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73368" y="37673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06640" y="376732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Baroque rules test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7200" y="47823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search: N_train ∈ {10, 50, 100, 250, 500}  ·  N_val = 50  ·  N_test = 100  ·  3 seeds {42, 100, 2026}  ·  Results reported as mean ± std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BACH CHORALES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 Chorales — Primary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1115568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QNLP Test F1 @ N=50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65960" cy="1115568"/>
          </a:xfrm>
          <a:prstGeom prst="rect">
            <a:avLst/>
          </a:prstGeom>
          <a:solidFill>
            <a:srgbClr val="450A0A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26187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8288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Test F1 @ N=50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random (0.555)!)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1965960" cy="1115568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26187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18288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QNLP Overfit Gap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generalizes!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1188720"/>
            <a:ext cx="1965960" cy="1115568"/>
          </a:xfrm>
          <a:prstGeom prst="rect">
            <a:avLst/>
          </a:prstGeom>
          <a:solidFill>
            <a:srgbClr val="450A0A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126187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66560" y="18288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Overfit Gap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overfitting</a:t>
            </a:r>
            <a:endParaRPr lang="en-US" sz="8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0"/>
            <a:ext cx="8503920" cy="2578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20040" y="497433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seed=2026  ·  LSTM val loss diverges (overfitting) while QNLP train &amp; val losses remain in same range — correct inductive bias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Scaling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F1, Test Accuracy, Convergence Speed, Validation Metrics, and Overfit Gap across all training sizes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10512"/>
            <a:ext cx="4108377" cy="28163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992624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collapses below random baseline at N=50 (Test F1=0.503). QNLP maintains stable generalization. Quantum advantage is specifically a low-data phenomenon.</a:t>
            </a:r>
            <a:endParaRPr lang="en-US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ED329A-AE8D-3DE8-0429-F2FCF9BDB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583" y="1810512"/>
            <a:ext cx="4108377" cy="2816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SYNTHETIC DATASET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N=10 — Stability Under Minimal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N≥50 results are excluded due to train/test pool overlap in the 160-sentence dataset. N=10 is the only overlap-free, interpretable result.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99616"/>
            <a:ext cx="429768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3467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— LSTM val loss diverges &gt; 2.0, QNLP stays bounded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499616"/>
            <a:ext cx="429768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33467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2026 — LSTM converges cleanly; opposite behavior from seed 42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320040" y="3547872"/>
            <a:ext cx="420624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11480" y="3639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Test F1 Std Dev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11480" y="385876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0.4456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411480" y="44439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as large as the mean — unpredictable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709160" y="3547872"/>
            <a:ext cx="420624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800600" y="3639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QNLP Test F1 Std Dev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800600" y="385876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0.1097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4800600" y="44439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lower — circuit topology bounds worst-case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SST-2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SST-2 — Where the Classical Model Recovers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640080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101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by 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949440" y="1554480"/>
            <a:ext cx="1874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949440" y="1627632"/>
            <a:ext cx="1874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95160" y="16824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98080" y="16824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92440" y="16824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0.777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949440" y="2048256"/>
            <a:ext cx="1874520" cy="365760"/>
          </a:xfrm>
          <a:prstGeom prst="rect">
            <a:avLst/>
          </a:prstGeom>
          <a:solidFill>
            <a:srgbClr val="ECFDF5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95160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98080" y="2103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0.737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92440" y="21031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0.660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949440" y="2468880"/>
            <a:ext cx="1874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95160" y="25237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98080" y="25237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092440" y="25237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0.743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949440" y="2889504"/>
            <a:ext cx="1874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99516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N=250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498080" y="29443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092440" y="29443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0.713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949440" y="3310128"/>
            <a:ext cx="1874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995160" y="33649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498080" y="33649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092440" y="3364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498080" y="13167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QNLP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092440" y="131673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949440" y="3767328"/>
            <a:ext cx="1874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022592" y="384048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LSTM wins at scale: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22592" y="4096512"/>
            <a:ext cx="1719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TR" sz="8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SST-2 phrase fragments lack the compositional structure that cups_reader's sequential pairing assumes. An inherent limitation of the dataset, not a theoretical QNLP failure. 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20040" y="47000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Persistently high overfit gap (0.20–0.28) across all N: QNLP circuit topology mismatch with unstructured text.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COMPLEXITY ANALYSIS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Analysis &amp; Theoretical Quantum Advantage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5943600" cy="2148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3558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Per-step time  ·  (b) Parameter count  ·  (c) Physical qubit count vs classical simulation states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446520" y="1188720"/>
            <a:ext cx="237744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10528" y="1243584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lower bound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10528" y="149961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≥  2M log 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10528" y="190195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dim grows linearly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46520" y="2286000"/>
            <a:ext cx="2377440" cy="1078992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10528" y="2340864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(Srikumar 2025, Thm. 2)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10528" y="257860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O(log log 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log M)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10528" y="316382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doubly-logarithmic growth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566160"/>
          <a:ext cx="5943600" cy="14447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QNLP params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params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(SST-2 min)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16,000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(Synthetic)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16,000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(Bach Minor)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16,000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(Bach Major)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16,000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(projected)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22,000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446520" y="3547872"/>
            <a:ext cx="2377440" cy="1481328"/>
          </a:xfrm>
          <a:prstGeom prst="rect">
            <a:avLst/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510528" y="3621024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confirmation: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510528" y="3877056"/>
            <a:ext cx="2249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QNLP is 7–29× slower per step on CPU simulation but uses 300–500× fewer parameters. On real NISQ hardware the simulation overhead vanishes — only 2k+1 physical qubits needed.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877824"/>
          </a:xfrm>
          <a:prstGeom prst="rect">
            <a:avLst/>
          </a:prstGeom>
          <a:solidFill>
            <a:srgbClr val="ECFDF5"/>
          </a:solidFill>
          <a:ln w="9525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13350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 chorales — hypothesis conditionally accepted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645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N=50: QNLP F1=0.665 (overfit gap=−0.027) vs LSTM F1=0.503 (below random, gap=+0.128). Negative overfit gap proves the structural prior generalizes beyond what training data warrants.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877824"/>
          </a:xfrm>
          <a:prstGeom prst="rect">
            <a:avLst/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39572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22677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variance reduction — synthetic N=10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257860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QNLP std=0.110 vs LSTM std=0.446. IQP circuit topology acts as a structural regularizer bounding worst-case performance regardless of random seed.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8229600" cy="877824"/>
          </a:xfrm>
          <a:prstGeom prst="rect">
            <a:avLst/>
          </a:prstGeom>
          <a:solidFill>
            <a:srgbClr val="F7F8FA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8992" y="3200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SST-2 at scale — LSTM wins from N=100 onward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351129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TR" sz="95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SST-2 phrase fragments lack compositional structure. cups_reader's sequential pairing cannot leverage structural inductive bias on shallow, non-compositional text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059936"/>
            <a:ext cx="8229600" cy="877824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426110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8992" y="41330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44439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simulation requires O(2^{2k+1}) memory → limits k≤5. Barren plateaus at n_layers=2. NISQ hardware access needed for full exponential advantage.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9443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294436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github.com/ahmetbugraerturk/qnlp-bach/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3284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332841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drive.google.com/drive/folders/1FXpkBapBCj_hTNx4AakAjno5KYYcsoe1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124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371246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Srikumar (2025) — QuantumNLP Workshop, ACL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409651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lambeq (Quantinuum) + PennyLane (Xanadu) + music21 (MIT)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1594</Words>
  <Application>Microsoft Macintosh PowerPoint</Application>
  <PresentationFormat>On-screen Show (16:9)</PresentationFormat>
  <Paragraphs>272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Ahmet Buğra Ertürk</cp:lastModifiedBy>
  <cp:revision>2</cp:revision>
  <dcterms:created xsi:type="dcterms:W3CDTF">2026-05-27T13:29:21Z</dcterms:created>
  <dcterms:modified xsi:type="dcterms:W3CDTF">2026-06-07T12:45:25Z</dcterms:modified>
</cp:coreProperties>
</file>